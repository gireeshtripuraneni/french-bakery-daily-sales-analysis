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
      <p:font typeface="Maven Pro SemiBold"/>
      <p:regular r:id="rId20"/>
      <p:bold r:id="rId21"/>
    </p:embeddedFont>
    <p:embeddedFont>
      <p:font typeface="Maven Pro"/>
      <p:regular r:id="rId22"/>
      <p:bold r:id="rId23"/>
    </p:embeddedFont>
    <p:embeddedFont>
      <p:font typeface="Maven Pro ExtraBold"/>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SemiBold-regular.fntdata"/><Relationship Id="rId11" Type="http://schemas.openxmlformats.org/officeDocument/2006/relationships/slide" Target="slides/slide6.xml"/><Relationship Id="rId22" Type="http://schemas.openxmlformats.org/officeDocument/2006/relationships/font" Target="fonts/MavenPro-regular.fntdata"/><Relationship Id="rId10" Type="http://schemas.openxmlformats.org/officeDocument/2006/relationships/slide" Target="slides/slide5.xml"/><Relationship Id="rId21" Type="http://schemas.openxmlformats.org/officeDocument/2006/relationships/font" Target="fonts/MavenProSemiBold-bold.fntdata"/><Relationship Id="rId13" Type="http://schemas.openxmlformats.org/officeDocument/2006/relationships/slide" Target="slides/slide8.xml"/><Relationship Id="rId24" Type="http://schemas.openxmlformats.org/officeDocument/2006/relationships/font" Target="fonts/MavenProExtraBold-bold.fntdata"/><Relationship Id="rId12" Type="http://schemas.openxmlformats.org/officeDocument/2006/relationships/slide" Target="slides/slide7.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453119c18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453119c18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453119c18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453119c18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453119c18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453119c18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453119c18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453119c18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453119c18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a453119c18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453119c18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453119c18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453119c18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a453119c18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453119c18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a453119c18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453119c18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a453119c18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232550" y="685100"/>
            <a:ext cx="5342700" cy="2566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4100">
                <a:solidFill>
                  <a:srgbClr val="FCE5CD"/>
                </a:solidFill>
              </a:rPr>
              <a:t>French Bakery daily sales</a:t>
            </a:r>
            <a:endParaRPr sz="4100">
              <a:solidFill>
                <a:srgbClr val="FCE5CD"/>
              </a:solidFill>
            </a:endParaRPr>
          </a:p>
          <a:p>
            <a:pPr indent="0" lvl="0" marL="0" rtl="0" algn="l">
              <a:spcBef>
                <a:spcPts val="0"/>
              </a:spcBef>
              <a:spcAft>
                <a:spcPts val="0"/>
              </a:spcAft>
              <a:buNone/>
            </a:pPr>
            <a:r>
              <a:rPr lang="en-GB" sz="2700">
                <a:solidFill>
                  <a:srgbClr val="FCE5CD"/>
                </a:solidFill>
              </a:rPr>
              <a:t>(2021-01-02 to 2022-09-30)</a:t>
            </a:r>
            <a:endParaRPr sz="2700">
              <a:solidFill>
                <a:srgbClr val="FCE5CD"/>
              </a:solidFill>
            </a:endParaRPr>
          </a:p>
        </p:txBody>
      </p:sp>
      <p:sp>
        <p:nvSpPr>
          <p:cNvPr id="278" name="Google Shape;278;p13"/>
          <p:cNvSpPr txBox="1"/>
          <p:nvPr>
            <p:ph idx="1" type="subTitle"/>
          </p:nvPr>
        </p:nvSpPr>
        <p:spPr>
          <a:xfrm>
            <a:off x="127550" y="3093475"/>
            <a:ext cx="6369300" cy="6609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935"/>
              <a:buNone/>
            </a:pPr>
            <a:r>
              <a:rPr b="1" lang="en-GB" sz="1700">
                <a:solidFill>
                  <a:srgbClr val="EA9999"/>
                </a:solidFill>
                <a:latin typeface="Maven Pro"/>
                <a:ea typeface="Maven Pro"/>
                <a:cs typeface="Maven Pro"/>
                <a:sym typeface="Maven Pro"/>
              </a:rPr>
              <a:t>Insights and Recommendations for Improving Sales &amp; Marketing</a:t>
            </a:r>
            <a:endParaRPr b="1" sz="1700">
              <a:solidFill>
                <a:srgbClr val="EA9999"/>
              </a:solidFill>
              <a:latin typeface="Maven Pro"/>
              <a:ea typeface="Maven Pro"/>
              <a:cs typeface="Maven Pro"/>
              <a:sym typeface="Maven Pro"/>
            </a:endParaRPr>
          </a:p>
          <a:p>
            <a:pPr indent="0" lvl="0" marL="0" rtl="0" algn="l">
              <a:lnSpc>
                <a:spcPct val="90000"/>
              </a:lnSpc>
              <a:spcBef>
                <a:spcPts val="1200"/>
              </a:spcBef>
              <a:spcAft>
                <a:spcPts val="0"/>
              </a:spcAft>
              <a:buSzPts val="935"/>
              <a:buNone/>
            </a:pPr>
            <a:r>
              <a:t/>
            </a:r>
            <a:endParaRPr b="1" sz="1700">
              <a:solidFill>
                <a:srgbClr val="EA9999"/>
              </a:solidFill>
              <a:latin typeface="Maven Pro"/>
              <a:ea typeface="Maven Pro"/>
              <a:cs typeface="Maven Pro"/>
              <a:sym typeface="Maven Pro"/>
            </a:endParaRPr>
          </a:p>
        </p:txBody>
      </p:sp>
      <p:sp>
        <p:nvSpPr>
          <p:cNvPr id="279" name="Google Shape;279;p13"/>
          <p:cNvSpPr txBox="1"/>
          <p:nvPr/>
        </p:nvSpPr>
        <p:spPr>
          <a:xfrm>
            <a:off x="127550" y="4351550"/>
            <a:ext cx="3949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rgbClr val="5B0F00"/>
                </a:solidFill>
                <a:latin typeface="Maven Pro ExtraBold"/>
                <a:ea typeface="Maven Pro ExtraBold"/>
                <a:cs typeface="Maven Pro ExtraBold"/>
                <a:sym typeface="Maven Pro ExtraBold"/>
              </a:rPr>
              <a:t>Tripuraneni Gireesh Chowdary - 23948238</a:t>
            </a:r>
            <a:endParaRPr sz="1300">
              <a:solidFill>
                <a:srgbClr val="5B0F00"/>
              </a:solidFill>
              <a:latin typeface="Maven Pro ExtraBold"/>
              <a:ea typeface="Maven Pro ExtraBold"/>
              <a:cs typeface="Maven Pro ExtraBold"/>
              <a:sym typeface="Maven Pro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272375" y="734750"/>
            <a:ext cx="6764400" cy="85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0" lang="en-GB">
                <a:solidFill>
                  <a:srgbClr val="FF0000"/>
                </a:solidFill>
                <a:latin typeface="Maven Pro ExtraBold"/>
                <a:ea typeface="Maven Pro ExtraBold"/>
                <a:cs typeface="Maven Pro ExtraBold"/>
                <a:sym typeface="Maven Pro ExtraBold"/>
              </a:rPr>
              <a:t>Basic Statistical Insights from the Dataset</a:t>
            </a:r>
            <a:endParaRPr b="0">
              <a:solidFill>
                <a:srgbClr val="FF0000"/>
              </a:solidFill>
              <a:latin typeface="Maven Pro ExtraBold"/>
              <a:ea typeface="Maven Pro ExtraBold"/>
              <a:cs typeface="Maven Pro ExtraBold"/>
              <a:sym typeface="Maven Pro ExtraBold"/>
            </a:endParaRPr>
          </a:p>
        </p:txBody>
      </p:sp>
      <p:sp>
        <p:nvSpPr>
          <p:cNvPr id="285" name="Google Shape;285;p14"/>
          <p:cNvSpPr txBox="1"/>
          <p:nvPr>
            <p:ph idx="1" type="body"/>
          </p:nvPr>
        </p:nvSpPr>
        <p:spPr>
          <a:xfrm>
            <a:off x="1091400" y="1449825"/>
            <a:ext cx="7343400" cy="3268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2000">
                <a:solidFill>
                  <a:srgbClr val="000000"/>
                </a:solidFill>
                <a:latin typeface="Maven Pro SemiBold"/>
                <a:ea typeface="Maven Pro SemiBold"/>
                <a:cs typeface="Maven Pro SemiBold"/>
                <a:sym typeface="Maven Pro SemiBold"/>
              </a:rPr>
              <a:t>Most customers usually purchase just one item per order, and this trend remains consistent throughout the entire period from January 2021 to September 2022. Orders generally take place between 7AM and 8PM, with the average transaction occurring in the late morning, showing a steady and predictable buying rhythm. Despite occasional bulk purchases reaching up to 55 items, single-item orders remain the clear norm, reflecting simple, quick, and routine customer behavior.</a:t>
            </a:r>
            <a:endParaRPr sz="2000">
              <a:solidFill>
                <a:srgbClr val="000000"/>
              </a:solidFill>
              <a:latin typeface="Maven Pro SemiBold"/>
              <a:ea typeface="Maven Pro SemiBold"/>
              <a:cs typeface="Maven Pro SemiBold"/>
              <a:sym typeface="Maven Pro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idx="1" type="body"/>
          </p:nvPr>
        </p:nvSpPr>
        <p:spPr>
          <a:xfrm>
            <a:off x="5334150" y="393588"/>
            <a:ext cx="3729300" cy="25875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GB" sz="1600"/>
              <a:t>Traditional Baguette makes up nearly one-third of all items sold, far outperforming every other product in the bakery. Croissants, baguettes, and banettes also perform well, while many smaller products contribute only tiny percentages, showing where to focus production and promotion.</a:t>
            </a:r>
            <a:endParaRPr sz="1600"/>
          </a:p>
        </p:txBody>
      </p:sp>
      <p:pic>
        <p:nvPicPr>
          <p:cNvPr id="291" name="Google Shape;291;p15" title="Chart"/>
          <p:cNvPicPr preferRelativeResize="0"/>
          <p:nvPr/>
        </p:nvPicPr>
        <p:blipFill>
          <a:blip r:embed="rId3">
            <a:alphaModFix/>
          </a:blip>
          <a:stretch>
            <a:fillRect/>
          </a:stretch>
        </p:blipFill>
        <p:spPr>
          <a:xfrm>
            <a:off x="62850" y="89025"/>
            <a:ext cx="5103700" cy="3164150"/>
          </a:xfrm>
          <a:prstGeom prst="rect">
            <a:avLst/>
          </a:prstGeom>
          <a:noFill/>
          <a:ln>
            <a:noFill/>
          </a:ln>
        </p:spPr>
      </p:pic>
      <p:sp>
        <p:nvSpPr>
          <p:cNvPr id="292" name="Google Shape;292;p15"/>
          <p:cNvSpPr txBox="1"/>
          <p:nvPr/>
        </p:nvSpPr>
        <p:spPr>
          <a:xfrm>
            <a:off x="211600" y="3253175"/>
            <a:ext cx="5814000" cy="13854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2"/>
              </a:buClr>
              <a:buSzPts val="1300"/>
              <a:buFont typeface="Nunito"/>
              <a:buChar char="●"/>
            </a:pPr>
            <a:r>
              <a:rPr lang="en-GB" sz="1300">
                <a:solidFill>
                  <a:schemeClr val="dk2"/>
                </a:solidFill>
                <a:latin typeface="Nunito"/>
                <a:ea typeface="Nunito"/>
                <a:cs typeface="Nunito"/>
                <a:sym typeface="Nunito"/>
              </a:rPr>
              <a:t>Promote Traditional Bread as the bakery’s signature best-seller.</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en-GB" sz="1300">
                <a:solidFill>
                  <a:schemeClr val="dk2"/>
                </a:solidFill>
                <a:latin typeface="Nunito"/>
                <a:ea typeface="Nunito"/>
                <a:cs typeface="Nunito"/>
                <a:sym typeface="Nunito"/>
              </a:rPr>
              <a:t>Use croissants, baguettes, and banettes in bundles and upsell offers.</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en-GB" sz="1300">
                <a:solidFill>
                  <a:schemeClr val="dk2"/>
                </a:solidFill>
                <a:latin typeface="Nunito"/>
                <a:ea typeface="Nunito"/>
                <a:cs typeface="Nunito"/>
                <a:sym typeface="Nunito"/>
              </a:rPr>
              <a:t>Reduce or rotate low-performing items to focus on high-demand products.</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en-GB" sz="1300">
                <a:solidFill>
                  <a:schemeClr val="dk2"/>
                </a:solidFill>
                <a:latin typeface="Nunito"/>
                <a:ea typeface="Nunito"/>
                <a:cs typeface="Nunito"/>
                <a:sym typeface="Nunito"/>
              </a:rPr>
              <a:t>Run time-based promotions for morning peaks and afternoon slumps.</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en-GB" sz="1300">
                <a:solidFill>
                  <a:schemeClr val="dk2"/>
                </a:solidFill>
                <a:latin typeface="Nunito"/>
                <a:ea typeface="Nunito"/>
                <a:cs typeface="Nunito"/>
                <a:sym typeface="Nunito"/>
              </a:rPr>
              <a:t>Boost visibility through social media posts and fresh-bake visuals.</a:t>
            </a:r>
            <a:endParaRPr sz="1300">
              <a:solidFill>
                <a:schemeClr val="dk2"/>
              </a:solidFill>
              <a:latin typeface="Nunito"/>
              <a:ea typeface="Nunito"/>
              <a:cs typeface="Nunito"/>
              <a:sym typeface="Nunito"/>
            </a:endParaRPr>
          </a:p>
        </p:txBody>
      </p:sp>
      <p:pic>
        <p:nvPicPr>
          <p:cNvPr id="293" name="Google Shape;293;p15"/>
          <p:cNvPicPr preferRelativeResize="0"/>
          <p:nvPr/>
        </p:nvPicPr>
        <p:blipFill>
          <a:blip r:embed="rId4">
            <a:alphaModFix/>
          </a:blip>
          <a:stretch>
            <a:fillRect/>
          </a:stretch>
        </p:blipFill>
        <p:spPr>
          <a:xfrm rot="308107">
            <a:off x="5938441" y="2576370"/>
            <a:ext cx="2650191" cy="25202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6"/>
          <p:cNvSpPr txBox="1"/>
          <p:nvPr>
            <p:ph type="title"/>
          </p:nvPr>
        </p:nvSpPr>
        <p:spPr>
          <a:xfrm>
            <a:off x="214350" y="586625"/>
            <a:ext cx="3234300" cy="9771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220">
                <a:solidFill>
                  <a:srgbClr val="E06666"/>
                </a:solidFill>
              </a:rPr>
              <a:t>Pricing Trends Change With Time of Day</a:t>
            </a:r>
            <a:endParaRPr sz="2220">
              <a:solidFill>
                <a:srgbClr val="E06666"/>
              </a:solidFill>
            </a:endParaRPr>
          </a:p>
        </p:txBody>
      </p:sp>
      <p:sp>
        <p:nvSpPr>
          <p:cNvPr id="299" name="Google Shape;299;p16"/>
          <p:cNvSpPr txBox="1"/>
          <p:nvPr>
            <p:ph idx="1" type="body"/>
          </p:nvPr>
        </p:nvSpPr>
        <p:spPr>
          <a:xfrm>
            <a:off x="214350" y="1675775"/>
            <a:ext cx="3548400" cy="3073800"/>
          </a:xfrm>
          <a:prstGeom prst="rect">
            <a:avLst/>
          </a:prstGeom>
        </p:spPr>
        <p:txBody>
          <a:bodyPr anchorCtr="0" anchor="t" bIns="91425" lIns="91425" spcFirstLastPara="1" rIns="91425" wrap="square" tIns="91425">
            <a:noAutofit/>
          </a:bodyPr>
          <a:lstStyle/>
          <a:p>
            <a:pPr indent="-296545" lvl="0" marL="457200" rtl="0" algn="just">
              <a:lnSpc>
                <a:spcPct val="115000"/>
              </a:lnSpc>
              <a:spcBef>
                <a:spcPts val="1200"/>
              </a:spcBef>
              <a:spcAft>
                <a:spcPts val="0"/>
              </a:spcAft>
              <a:buClr>
                <a:srgbClr val="000000"/>
              </a:buClr>
              <a:buSzPts val="1070"/>
              <a:buFont typeface="Maven Pro ExtraBold"/>
              <a:buChar char="●"/>
            </a:pPr>
            <a:r>
              <a:rPr lang="en-GB" sz="1210">
                <a:latin typeface="Maven Pro ExtraBold"/>
                <a:ea typeface="Maven Pro ExtraBold"/>
                <a:cs typeface="Maven Pro ExtraBold"/>
                <a:sym typeface="Maven Pro ExtraBold"/>
              </a:rPr>
              <a:t>The average selling price increases steadily throughout the morning.</a:t>
            </a:r>
            <a:br>
              <a:rPr lang="en-GB" sz="1210">
                <a:latin typeface="Maven Pro ExtraBold"/>
                <a:ea typeface="Maven Pro ExtraBold"/>
                <a:cs typeface="Maven Pro ExtraBold"/>
                <a:sym typeface="Maven Pro ExtraBold"/>
              </a:rPr>
            </a:br>
            <a:endParaRPr sz="1210">
              <a:latin typeface="Maven Pro ExtraBold"/>
              <a:ea typeface="Maven Pro ExtraBold"/>
              <a:cs typeface="Maven Pro ExtraBold"/>
              <a:sym typeface="Maven Pro ExtraBold"/>
            </a:endParaRPr>
          </a:p>
          <a:p>
            <a:pPr indent="-296545" lvl="0" marL="457200" rtl="0" algn="just">
              <a:lnSpc>
                <a:spcPct val="115000"/>
              </a:lnSpc>
              <a:spcBef>
                <a:spcPts val="0"/>
              </a:spcBef>
              <a:spcAft>
                <a:spcPts val="0"/>
              </a:spcAft>
              <a:buClr>
                <a:srgbClr val="000000"/>
              </a:buClr>
              <a:buSzPts val="1070"/>
              <a:buFont typeface="Maven Pro ExtraBold"/>
              <a:buChar char="●"/>
            </a:pPr>
            <a:r>
              <a:rPr lang="en-GB" sz="1210">
                <a:latin typeface="Maven Pro ExtraBold"/>
                <a:ea typeface="Maven Pro ExtraBold"/>
                <a:cs typeface="Maven Pro ExtraBold"/>
                <a:sym typeface="Maven Pro ExtraBold"/>
              </a:rPr>
              <a:t>Pricing reaches its peak around noon.</a:t>
            </a:r>
            <a:br>
              <a:rPr lang="en-GB" sz="1210">
                <a:latin typeface="Maven Pro ExtraBold"/>
                <a:ea typeface="Maven Pro ExtraBold"/>
                <a:cs typeface="Maven Pro ExtraBold"/>
                <a:sym typeface="Maven Pro ExtraBold"/>
              </a:rPr>
            </a:br>
            <a:endParaRPr sz="1210">
              <a:latin typeface="Maven Pro ExtraBold"/>
              <a:ea typeface="Maven Pro ExtraBold"/>
              <a:cs typeface="Maven Pro ExtraBold"/>
              <a:sym typeface="Maven Pro ExtraBold"/>
            </a:endParaRPr>
          </a:p>
          <a:p>
            <a:pPr indent="-296545" lvl="0" marL="457200" rtl="0" algn="just">
              <a:lnSpc>
                <a:spcPct val="115000"/>
              </a:lnSpc>
              <a:spcBef>
                <a:spcPts val="0"/>
              </a:spcBef>
              <a:spcAft>
                <a:spcPts val="0"/>
              </a:spcAft>
              <a:buClr>
                <a:srgbClr val="000000"/>
              </a:buClr>
              <a:buSzPts val="1070"/>
              <a:buFont typeface="Maven Pro ExtraBold"/>
              <a:buChar char="●"/>
            </a:pPr>
            <a:r>
              <a:rPr lang="en-GB" sz="1210">
                <a:latin typeface="Maven Pro ExtraBold"/>
                <a:ea typeface="Maven Pro ExtraBold"/>
                <a:cs typeface="Maven Pro ExtraBold"/>
                <a:sym typeface="Maven Pro ExtraBold"/>
              </a:rPr>
              <a:t>Prices drop in the afternoon as customer choices shift.</a:t>
            </a:r>
            <a:br>
              <a:rPr lang="en-GB" sz="1210">
                <a:latin typeface="Maven Pro ExtraBold"/>
                <a:ea typeface="Maven Pro ExtraBold"/>
                <a:cs typeface="Maven Pro ExtraBold"/>
                <a:sym typeface="Maven Pro ExtraBold"/>
              </a:rPr>
            </a:br>
            <a:endParaRPr sz="1210">
              <a:latin typeface="Maven Pro ExtraBold"/>
              <a:ea typeface="Maven Pro ExtraBold"/>
              <a:cs typeface="Maven Pro ExtraBold"/>
              <a:sym typeface="Maven Pro ExtraBold"/>
            </a:endParaRPr>
          </a:p>
          <a:p>
            <a:pPr indent="-296545" lvl="0" marL="457200" rtl="0" algn="just">
              <a:lnSpc>
                <a:spcPct val="115000"/>
              </a:lnSpc>
              <a:spcBef>
                <a:spcPts val="0"/>
              </a:spcBef>
              <a:spcAft>
                <a:spcPts val="0"/>
              </a:spcAft>
              <a:buClr>
                <a:srgbClr val="000000"/>
              </a:buClr>
              <a:buSzPts val="1070"/>
              <a:buFont typeface="Maven Pro ExtraBold"/>
              <a:buChar char="●"/>
            </a:pPr>
            <a:r>
              <a:rPr lang="en-GB" sz="1210">
                <a:latin typeface="Maven Pro ExtraBold"/>
                <a:ea typeface="Maven Pro ExtraBold"/>
                <a:cs typeface="Maven Pro ExtraBold"/>
                <a:sym typeface="Maven Pro ExtraBold"/>
              </a:rPr>
              <a:t>Higher-value items are purchased earlier in the day.</a:t>
            </a:r>
            <a:br>
              <a:rPr lang="en-GB" sz="1210">
                <a:latin typeface="Maven Pro ExtraBold"/>
                <a:ea typeface="Maven Pro ExtraBold"/>
                <a:cs typeface="Maven Pro ExtraBold"/>
                <a:sym typeface="Maven Pro ExtraBold"/>
              </a:rPr>
            </a:br>
            <a:endParaRPr sz="1210">
              <a:latin typeface="Maven Pro ExtraBold"/>
              <a:ea typeface="Maven Pro ExtraBold"/>
              <a:cs typeface="Maven Pro ExtraBold"/>
              <a:sym typeface="Maven Pro ExtraBold"/>
            </a:endParaRPr>
          </a:p>
          <a:p>
            <a:pPr indent="-296545" lvl="0" marL="457200" rtl="0" algn="just">
              <a:lnSpc>
                <a:spcPct val="115000"/>
              </a:lnSpc>
              <a:spcBef>
                <a:spcPts val="0"/>
              </a:spcBef>
              <a:spcAft>
                <a:spcPts val="0"/>
              </a:spcAft>
              <a:buClr>
                <a:srgbClr val="000000"/>
              </a:buClr>
              <a:buSzPts val="1070"/>
              <a:buFont typeface="Maven Pro ExtraBold"/>
              <a:buChar char="●"/>
            </a:pPr>
            <a:r>
              <a:rPr lang="en-GB" sz="1210">
                <a:latin typeface="Maven Pro ExtraBold"/>
                <a:ea typeface="Maven Pro ExtraBold"/>
                <a:cs typeface="Maven Pro ExtraBold"/>
                <a:sym typeface="Maven Pro ExtraBold"/>
              </a:rPr>
              <a:t>Later hours show a preference for simpler, lower-priced items.</a:t>
            </a:r>
            <a:br>
              <a:rPr lang="en-GB" sz="1210">
                <a:latin typeface="Maven Pro ExtraBold"/>
                <a:ea typeface="Maven Pro ExtraBold"/>
                <a:cs typeface="Maven Pro ExtraBold"/>
                <a:sym typeface="Maven Pro ExtraBold"/>
              </a:rPr>
            </a:br>
            <a:endParaRPr sz="1210">
              <a:latin typeface="Maven Pro ExtraBold"/>
              <a:ea typeface="Maven Pro ExtraBold"/>
              <a:cs typeface="Maven Pro ExtraBold"/>
              <a:sym typeface="Maven Pro ExtraBold"/>
            </a:endParaRPr>
          </a:p>
          <a:p>
            <a:pPr indent="0" lvl="0" marL="0" rtl="0" algn="just">
              <a:lnSpc>
                <a:spcPct val="105000"/>
              </a:lnSpc>
              <a:spcBef>
                <a:spcPts val="1200"/>
              </a:spcBef>
              <a:spcAft>
                <a:spcPts val="1200"/>
              </a:spcAft>
              <a:buSzPts val="770"/>
              <a:buNone/>
            </a:pPr>
            <a:r>
              <a:t/>
            </a:r>
            <a:endParaRPr sz="1210">
              <a:latin typeface="Maven Pro ExtraBold"/>
              <a:ea typeface="Maven Pro ExtraBold"/>
              <a:cs typeface="Maven Pro ExtraBold"/>
              <a:sym typeface="Maven Pro ExtraBold"/>
            </a:endParaRPr>
          </a:p>
        </p:txBody>
      </p:sp>
      <p:pic>
        <p:nvPicPr>
          <p:cNvPr id="300" name="Google Shape;300;p16" title="Chart"/>
          <p:cNvPicPr preferRelativeResize="0"/>
          <p:nvPr/>
        </p:nvPicPr>
        <p:blipFill>
          <a:blip r:embed="rId3">
            <a:alphaModFix/>
          </a:blip>
          <a:stretch>
            <a:fillRect/>
          </a:stretch>
        </p:blipFill>
        <p:spPr>
          <a:xfrm>
            <a:off x="3945650" y="622238"/>
            <a:ext cx="4954699" cy="38990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7"/>
          <p:cNvSpPr txBox="1"/>
          <p:nvPr>
            <p:ph type="title"/>
          </p:nvPr>
        </p:nvSpPr>
        <p:spPr>
          <a:xfrm>
            <a:off x="0" y="0"/>
            <a:ext cx="5088300" cy="73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Number of Orders Per Hour</a:t>
            </a:r>
            <a:endParaRPr/>
          </a:p>
        </p:txBody>
      </p:sp>
      <p:sp>
        <p:nvSpPr>
          <p:cNvPr id="306" name="Google Shape;306;p17"/>
          <p:cNvSpPr txBox="1"/>
          <p:nvPr>
            <p:ph idx="1" type="body"/>
          </p:nvPr>
        </p:nvSpPr>
        <p:spPr>
          <a:xfrm>
            <a:off x="96350" y="653700"/>
            <a:ext cx="4368300" cy="1634100"/>
          </a:xfrm>
          <a:prstGeom prst="rect">
            <a:avLst/>
          </a:prstGeom>
          <a:solidFill>
            <a:schemeClr val="lt1"/>
          </a:solidFill>
        </p:spPr>
        <p:txBody>
          <a:bodyPr anchorCtr="0" anchor="t" bIns="91425" lIns="91425" spcFirstLastPara="1" rIns="91425" wrap="square" tIns="91425">
            <a:normAutofit lnSpcReduction="10000"/>
          </a:bodyPr>
          <a:lstStyle/>
          <a:p>
            <a:pPr indent="0" lvl="0" marL="0" rtl="0" algn="just">
              <a:spcBef>
                <a:spcPts val="0"/>
              </a:spcBef>
              <a:spcAft>
                <a:spcPts val="1200"/>
              </a:spcAft>
              <a:buNone/>
            </a:pPr>
            <a:r>
              <a:rPr lang="en-GB">
                <a:solidFill>
                  <a:srgbClr val="3C78D8"/>
                </a:solidFill>
                <a:latin typeface="Maven Pro ExtraBold"/>
                <a:ea typeface="Maven Pro ExtraBold"/>
                <a:cs typeface="Maven Pro ExtraBold"/>
                <a:sym typeface="Maven Pro ExtraBold"/>
              </a:rPr>
              <a:t>We see customer activity pick up quickly after 8 AM, and it reaches its highest point between 10 AM and noon. This late-morning rush is when the bakery is at its busiest, making it the perfect time to push quick-serve items, offer small add-on deals, and run short, well-timed promotions that help boost overall sales.</a:t>
            </a:r>
            <a:endParaRPr>
              <a:solidFill>
                <a:srgbClr val="3C78D8"/>
              </a:solidFill>
              <a:latin typeface="Maven Pro ExtraBold"/>
              <a:ea typeface="Maven Pro ExtraBold"/>
              <a:cs typeface="Maven Pro ExtraBold"/>
              <a:sym typeface="Maven Pro ExtraBold"/>
            </a:endParaRPr>
          </a:p>
        </p:txBody>
      </p:sp>
      <p:pic>
        <p:nvPicPr>
          <p:cNvPr id="307" name="Google Shape;307;p17" title="Chart"/>
          <p:cNvPicPr preferRelativeResize="0"/>
          <p:nvPr/>
        </p:nvPicPr>
        <p:blipFill>
          <a:blip r:embed="rId3">
            <a:alphaModFix/>
          </a:blip>
          <a:stretch>
            <a:fillRect/>
          </a:stretch>
        </p:blipFill>
        <p:spPr>
          <a:xfrm>
            <a:off x="4994025" y="297550"/>
            <a:ext cx="3859924" cy="2896474"/>
          </a:xfrm>
          <a:prstGeom prst="rect">
            <a:avLst/>
          </a:prstGeom>
          <a:noFill/>
          <a:ln>
            <a:noFill/>
          </a:ln>
        </p:spPr>
      </p:pic>
      <p:sp>
        <p:nvSpPr>
          <p:cNvPr id="308" name="Google Shape;308;p17"/>
          <p:cNvSpPr txBox="1"/>
          <p:nvPr/>
        </p:nvSpPr>
        <p:spPr>
          <a:xfrm>
            <a:off x="96350" y="2330850"/>
            <a:ext cx="46776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38761D"/>
                </a:solidFill>
                <a:latin typeface="Nunito"/>
                <a:ea typeface="Nunito"/>
                <a:cs typeface="Nunito"/>
                <a:sym typeface="Nunito"/>
              </a:rPr>
              <a:t>Marketing Actions Based on Data Insights</a:t>
            </a:r>
            <a:endParaRPr b="1" sz="1800">
              <a:solidFill>
                <a:srgbClr val="38761D"/>
              </a:solidFill>
              <a:latin typeface="Nunito"/>
              <a:ea typeface="Nunito"/>
              <a:cs typeface="Nunito"/>
              <a:sym typeface="Nunito"/>
            </a:endParaRPr>
          </a:p>
        </p:txBody>
      </p:sp>
      <p:sp>
        <p:nvSpPr>
          <p:cNvPr id="309" name="Google Shape;309;p17"/>
          <p:cNvSpPr txBox="1"/>
          <p:nvPr/>
        </p:nvSpPr>
        <p:spPr>
          <a:xfrm>
            <a:off x="51950" y="2910100"/>
            <a:ext cx="5732700" cy="2076600"/>
          </a:xfrm>
          <a:prstGeom prst="rect">
            <a:avLst/>
          </a:prstGeom>
          <a:noFill/>
          <a:ln>
            <a:noFill/>
          </a:ln>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Clr>
                <a:srgbClr val="434343"/>
              </a:buClr>
              <a:buSzPts val="1300"/>
              <a:buFont typeface="Nunito"/>
              <a:buChar char="●"/>
            </a:pPr>
            <a:r>
              <a:rPr b="1" lang="en-GB" sz="1300">
                <a:solidFill>
                  <a:srgbClr val="434343"/>
                </a:solidFill>
                <a:latin typeface="Nunito"/>
                <a:ea typeface="Nunito"/>
                <a:cs typeface="Nunito"/>
                <a:sym typeface="Nunito"/>
              </a:rPr>
              <a:t>promote our best-selling items like Traditional Bread and croissants more often.</a:t>
            </a:r>
            <a:endParaRPr b="1" sz="1300">
              <a:solidFill>
                <a:srgbClr val="434343"/>
              </a:solidFill>
              <a:latin typeface="Nunito"/>
              <a:ea typeface="Nunito"/>
              <a:cs typeface="Nunito"/>
              <a:sym typeface="Nunito"/>
            </a:endParaRPr>
          </a:p>
          <a:p>
            <a:pPr indent="-311150" lvl="0" marL="457200" rtl="0" algn="just">
              <a:lnSpc>
                <a:spcPct val="115000"/>
              </a:lnSpc>
              <a:spcBef>
                <a:spcPts val="0"/>
              </a:spcBef>
              <a:spcAft>
                <a:spcPts val="0"/>
              </a:spcAft>
              <a:buClr>
                <a:srgbClr val="434343"/>
              </a:buClr>
              <a:buSzPts val="1300"/>
              <a:buFont typeface="Nunito"/>
              <a:buChar char="●"/>
            </a:pPr>
            <a:r>
              <a:rPr b="1" lang="en-GB" sz="1300">
                <a:solidFill>
                  <a:srgbClr val="434343"/>
                </a:solidFill>
                <a:latin typeface="Nunito"/>
                <a:ea typeface="Nunito"/>
                <a:cs typeface="Nunito"/>
                <a:sym typeface="Nunito"/>
              </a:rPr>
              <a:t>use the busy late-morning hours (10 AM–12 PM) to offer combos and upsells.</a:t>
            </a:r>
            <a:endParaRPr b="1" sz="1300">
              <a:solidFill>
                <a:srgbClr val="434343"/>
              </a:solidFill>
              <a:latin typeface="Nunito"/>
              <a:ea typeface="Nunito"/>
              <a:cs typeface="Nunito"/>
              <a:sym typeface="Nunito"/>
            </a:endParaRPr>
          </a:p>
          <a:p>
            <a:pPr indent="-311150" lvl="0" marL="457200" rtl="0" algn="just">
              <a:lnSpc>
                <a:spcPct val="115000"/>
              </a:lnSpc>
              <a:spcBef>
                <a:spcPts val="0"/>
              </a:spcBef>
              <a:spcAft>
                <a:spcPts val="0"/>
              </a:spcAft>
              <a:buClr>
                <a:srgbClr val="434343"/>
              </a:buClr>
              <a:buSzPts val="1300"/>
              <a:buFont typeface="Nunito"/>
              <a:buChar char="●"/>
            </a:pPr>
            <a:r>
              <a:rPr b="1" lang="en-GB" sz="1300">
                <a:solidFill>
                  <a:srgbClr val="434343"/>
                </a:solidFill>
                <a:latin typeface="Nunito"/>
                <a:ea typeface="Nunito"/>
                <a:cs typeface="Nunito"/>
                <a:sym typeface="Nunito"/>
              </a:rPr>
              <a:t>run small tea-time deals in the slower hours (2 PM–4 PM and 7 PM-8 PM) to bring in more customers.</a:t>
            </a:r>
            <a:endParaRPr b="1" sz="1300">
              <a:solidFill>
                <a:srgbClr val="434343"/>
              </a:solidFill>
              <a:latin typeface="Nunito"/>
              <a:ea typeface="Nunito"/>
              <a:cs typeface="Nunito"/>
              <a:sym typeface="Nunito"/>
            </a:endParaRPr>
          </a:p>
          <a:p>
            <a:pPr indent="-311150" lvl="0" marL="457200" rtl="0" algn="just">
              <a:lnSpc>
                <a:spcPct val="115000"/>
              </a:lnSpc>
              <a:spcBef>
                <a:spcPts val="0"/>
              </a:spcBef>
              <a:spcAft>
                <a:spcPts val="0"/>
              </a:spcAft>
              <a:buClr>
                <a:srgbClr val="434343"/>
              </a:buClr>
              <a:buSzPts val="1300"/>
              <a:buFont typeface="Nunito"/>
              <a:buChar char="●"/>
            </a:pPr>
            <a:r>
              <a:rPr b="1" lang="en-GB" sz="1300">
                <a:solidFill>
                  <a:srgbClr val="434343"/>
                </a:solidFill>
                <a:latin typeface="Nunito"/>
                <a:ea typeface="Nunito"/>
                <a:cs typeface="Nunito"/>
                <a:sym typeface="Nunito"/>
              </a:rPr>
              <a:t>keep the menu simple by removing low-demand items and highlighting the popular ones.</a:t>
            </a:r>
            <a:endParaRPr sz="1300">
              <a:solidFill>
                <a:schemeClr val="dk2"/>
              </a:solidFill>
              <a:latin typeface="Nunito"/>
              <a:ea typeface="Nunito"/>
              <a:cs typeface="Nunito"/>
              <a:sym typeface="Nunito"/>
            </a:endParaRPr>
          </a:p>
          <a:p>
            <a:pPr indent="0" lvl="0" marL="0" rtl="0" algn="just">
              <a:lnSpc>
                <a:spcPct val="115000"/>
              </a:lnSpc>
              <a:spcBef>
                <a:spcPts val="0"/>
              </a:spcBef>
              <a:spcAft>
                <a:spcPts val="0"/>
              </a:spcAft>
              <a:buNone/>
            </a:pPr>
            <a:r>
              <a:t/>
            </a:r>
            <a:endParaRPr sz="1300">
              <a:solidFill>
                <a:schemeClr val="dk2"/>
              </a:solidFill>
              <a:latin typeface="Nunito"/>
              <a:ea typeface="Nunito"/>
              <a:cs typeface="Nunito"/>
              <a:sym typeface="Nunito"/>
            </a:endParaRPr>
          </a:p>
        </p:txBody>
      </p:sp>
      <p:sp>
        <p:nvSpPr>
          <p:cNvPr id="310" name="Google Shape;310;p17"/>
          <p:cNvSpPr/>
          <p:nvPr/>
        </p:nvSpPr>
        <p:spPr>
          <a:xfrm>
            <a:off x="6465525" y="735900"/>
            <a:ext cx="240900" cy="2174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500">
              <a:latin typeface="Nunito"/>
              <a:ea typeface="Nunito"/>
              <a:cs typeface="Nunito"/>
              <a:sym typeface="Nunito"/>
            </a:endParaRPr>
          </a:p>
        </p:txBody>
      </p:sp>
      <p:sp>
        <p:nvSpPr>
          <p:cNvPr id="311" name="Google Shape;311;p17"/>
          <p:cNvSpPr/>
          <p:nvPr/>
        </p:nvSpPr>
        <p:spPr>
          <a:xfrm>
            <a:off x="7135950" y="2658700"/>
            <a:ext cx="429600" cy="25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12" name="Google Shape;312;p17"/>
          <p:cNvSpPr/>
          <p:nvPr/>
        </p:nvSpPr>
        <p:spPr>
          <a:xfrm>
            <a:off x="8235875" y="2658700"/>
            <a:ext cx="429600" cy="25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13" name="Google Shape;313;p17"/>
          <p:cNvSpPr txBox="1"/>
          <p:nvPr/>
        </p:nvSpPr>
        <p:spPr>
          <a:xfrm>
            <a:off x="7282600" y="581100"/>
            <a:ext cx="7332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solidFill>
                  <a:schemeClr val="dk2"/>
                </a:solidFill>
                <a:latin typeface="Nunito"/>
                <a:ea typeface="Nunito"/>
                <a:cs typeface="Nunito"/>
                <a:sym typeface="Nunito"/>
              </a:rPr>
              <a:t>PEAK</a:t>
            </a:r>
            <a:endParaRPr b="1" sz="1000">
              <a:solidFill>
                <a:schemeClr val="dk2"/>
              </a:solidFill>
              <a:latin typeface="Nunito"/>
              <a:ea typeface="Nunito"/>
              <a:cs typeface="Nunito"/>
              <a:sym typeface="Nunito"/>
            </a:endParaRPr>
          </a:p>
        </p:txBody>
      </p:sp>
      <p:cxnSp>
        <p:nvCxnSpPr>
          <p:cNvPr id="314" name="Google Shape;314;p17"/>
          <p:cNvCxnSpPr>
            <a:stCxn id="313" idx="1"/>
            <a:endCxn id="310" idx="0"/>
          </p:cNvCxnSpPr>
          <p:nvPr/>
        </p:nvCxnSpPr>
        <p:spPr>
          <a:xfrm rot="10800000">
            <a:off x="6586000" y="735900"/>
            <a:ext cx="696600" cy="0"/>
          </a:xfrm>
          <a:prstGeom prst="straightConnector1">
            <a:avLst/>
          </a:prstGeom>
          <a:noFill/>
          <a:ln cap="flat" cmpd="sng" w="19050">
            <a:solidFill>
              <a:schemeClr val="dk2"/>
            </a:solidFill>
            <a:prstDash val="solid"/>
            <a:round/>
            <a:headEnd len="med" w="med" type="none"/>
            <a:tailEnd len="med" w="med" type="none"/>
          </a:ln>
        </p:spPr>
      </p:cxnSp>
      <p:sp>
        <p:nvSpPr>
          <p:cNvPr id="315" name="Google Shape;315;p17"/>
          <p:cNvSpPr txBox="1"/>
          <p:nvPr/>
        </p:nvSpPr>
        <p:spPr>
          <a:xfrm>
            <a:off x="7565550" y="1582050"/>
            <a:ext cx="5448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solidFill>
                  <a:schemeClr val="dk2"/>
                </a:solidFill>
                <a:latin typeface="Nunito"/>
                <a:ea typeface="Nunito"/>
                <a:cs typeface="Nunito"/>
                <a:sym typeface="Nunito"/>
              </a:rPr>
              <a:t>LOW</a:t>
            </a:r>
            <a:endParaRPr b="1" sz="300">
              <a:solidFill>
                <a:schemeClr val="dk2"/>
              </a:solidFill>
              <a:latin typeface="Nunito"/>
              <a:ea typeface="Nunito"/>
              <a:cs typeface="Nunito"/>
              <a:sym typeface="Nunito"/>
            </a:endParaRPr>
          </a:p>
        </p:txBody>
      </p:sp>
      <p:cxnSp>
        <p:nvCxnSpPr>
          <p:cNvPr id="316" name="Google Shape;316;p17"/>
          <p:cNvCxnSpPr>
            <a:stCxn id="317" idx="1"/>
          </p:cNvCxnSpPr>
          <p:nvPr/>
        </p:nvCxnSpPr>
        <p:spPr>
          <a:xfrm flipH="1">
            <a:off x="7300950" y="1745788"/>
            <a:ext cx="228000" cy="961500"/>
          </a:xfrm>
          <a:prstGeom prst="straightConnector1">
            <a:avLst/>
          </a:prstGeom>
          <a:noFill/>
          <a:ln cap="flat" cmpd="sng" w="19050">
            <a:solidFill>
              <a:schemeClr val="dk2"/>
            </a:solidFill>
            <a:prstDash val="solid"/>
            <a:round/>
            <a:headEnd len="med" w="med" type="none"/>
            <a:tailEnd len="med" w="med" type="none"/>
          </a:ln>
        </p:spPr>
      </p:cxnSp>
      <p:cxnSp>
        <p:nvCxnSpPr>
          <p:cNvPr id="318" name="Google Shape;318;p17"/>
          <p:cNvCxnSpPr>
            <a:stCxn id="317" idx="3"/>
            <a:endCxn id="312" idx="0"/>
          </p:cNvCxnSpPr>
          <p:nvPr/>
        </p:nvCxnSpPr>
        <p:spPr>
          <a:xfrm>
            <a:off x="8146950" y="1745788"/>
            <a:ext cx="303600" cy="912900"/>
          </a:xfrm>
          <a:prstGeom prst="straightConnector1">
            <a:avLst/>
          </a:prstGeom>
          <a:noFill/>
          <a:ln cap="flat" cmpd="sng" w="19050">
            <a:solidFill>
              <a:schemeClr val="dk2"/>
            </a:solidFill>
            <a:prstDash val="solid"/>
            <a:round/>
            <a:headEnd len="med" w="med" type="none"/>
            <a:tailEnd len="med" w="med" type="none"/>
          </a:ln>
        </p:spPr>
      </p:cxnSp>
      <p:sp>
        <p:nvSpPr>
          <p:cNvPr id="319" name="Google Shape;319;p17"/>
          <p:cNvSpPr/>
          <p:nvPr/>
        </p:nvSpPr>
        <p:spPr>
          <a:xfrm>
            <a:off x="7261650" y="574050"/>
            <a:ext cx="544800" cy="309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17" name="Google Shape;317;p17"/>
          <p:cNvSpPr/>
          <p:nvPr/>
        </p:nvSpPr>
        <p:spPr>
          <a:xfrm>
            <a:off x="7528950" y="1620088"/>
            <a:ext cx="618000" cy="25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320" name="Google Shape;320;p17"/>
          <p:cNvPicPr preferRelativeResize="0"/>
          <p:nvPr/>
        </p:nvPicPr>
        <p:blipFill>
          <a:blip r:embed="rId4">
            <a:alphaModFix/>
          </a:blip>
          <a:stretch>
            <a:fillRect/>
          </a:stretch>
        </p:blipFill>
        <p:spPr>
          <a:xfrm rot="637133">
            <a:off x="6266051" y="2800500"/>
            <a:ext cx="2388300" cy="2388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8"/>
          <p:cNvSpPr txBox="1"/>
          <p:nvPr/>
        </p:nvSpPr>
        <p:spPr>
          <a:xfrm>
            <a:off x="4957025" y="548925"/>
            <a:ext cx="3928200" cy="2796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Maven Pro ExtraBold"/>
              <a:buChar char="●"/>
            </a:pPr>
            <a:r>
              <a:rPr lang="en-GB" sz="1300">
                <a:solidFill>
                  <a:schemeClr val="dk2"/>
                </a:solidFill>
                <a:latin typeface="Maven Pro ExtraBold"/>
                <a:ea typeface="Maven Pro ExtraBold"/>
                <a:cs typeface="Maven Pro ExtraBold"/>
                <a:sym typeface="Maven Pro ExtraBold"/>
              </a:rPr>
              <a:t>Most products sit in an affordable mid-price range.</a:t>
            </a:r>
            <a:endParaRPr sz="1300">
              <a:solidFill>
                <a:schemeClr val="dk2"/>
              </a:solidFill>
              <a:latin typeface="Maven Pro ExtraBold"/>
              <a:ea typeface="Maven Pro ExtraBold"/>
              <a:cs typeface="Maven Pro ExtraBold"/>
              <a:sym typeface="Maven Pro ExtraBold"/>
            </a:endParaRPr>
          </a:p>
          <a:p>
            <a:pPr indent="0" lvl="0" marL="457200" rtl="0" algn="l">
              <a:spcBef>
                <a:spcPts val="0"/>
              </a:spcBef>
              <a:spcAft>
                <a:spcPts val="0"/>
              </a:spcAft>
              <a:buNone/>
            </a:pPr>
            <a:r>
              <a:t/>
            </a:r>
            <a:endParaRPr sz="1300">
              <a:solidFill>
                <a:schemeClr val="dk2"/>
              </a:solidFill>
              <a:latin typeface="Maven Pro ExtraBold"/>
              <a:ea typeface="Maven Pro ExtraBold"/>
              <a:cs typeface="Maven Pro ExtraBold"/>
              <a:sym typeface="Maven Pro ExtraBold"/>
            </a:endParaRPr>
          </a:p>
          <a:p>
            <a:pPr indent="-311150" lvl="0" marL="457200" rtl="0" algn="l">
              <a:spcBef>
                <a:spcPts val="0"/>
              </a:spcBef>
              <a:spcAft>
                <a:spcPts val="0"/>
              </a:spcAft>
              <a:buClr>
                <a:schemeClr val="dk2"/>
              </a:buClr>
              <a:buSzPts val="1300"/>
              <a:buFont typeface="Maven Pro ExtraBold"/>
              <a:buChar char="●"/>
            </a:pPr>
            <a:r>
              <a:rPr lang="en-GB" sz="1300">
                <a:solidFill>
                  <a:schemeClr val="dk2"/>
                </a:solidFill>
                <a:latin typeface="Maven Pro ExtraBold"/>
                <a:ea typeface="Maven Pro ExtraBold"/>
                <a:cs typeface="Maven Pro ExtraBold"/>
                <a:sym typeface="Maven Pro ExtraBold"/>
              </a:rPr>
              <a:t>A few specialty items are priced much higher.</a:t>
            </a:r>
            <a:endParaRPr sz="1300">
              <a:solidFill>
                <a:schemeClr val="dk2"/>
              </a:solidFill>
              <a:latin typeface="Maven Pro ExtraBold"/>
              <a:ea typeface="Maven Pro ExtraBold"/>
              <a:cs typeface="Maven Pro ExtraBold"/>
              <a:sym typeface="Maven Pro ExtraBold"/>
            </a:endParaRPr>
          </a:p>
          <a:p>
            <a:pPr indent="0" lvl="0" marL="457200" rtl="0" algn="l">
              <a:spcBef>
                <a:spcPts val="0"/>
              </a:spcBef>
              <a:spcAft>
                <a:spcPts val="0"/>
              </a:spcAft>
              <a:buNone/>
            </a:pPr>
            <a:r>
              <a:t/>
            </a:r>
            <a:endParaRPr sz="1300">
              <a:solidFill>
                <a:schemeClr val="dk2"/>
              </a:solidFill>
              <a:latin typeface="Maven Pro ExtraBold"/>
              <a:ea typeface="Maven Pro ExtraBold"/>
              <a:cs typeface="Maven Pro ExtraBold"/>
              <a:sym typeface="Maven Pro ExtraBold"/>
            </a:endParaRPr>
          </a:p>
          <a:p>
            <a:pPr indent="-311150" lvl="0" marL="457200" rtl="0" algn="l">
              <a:spcBef>
                <a:spcPts val="0"/>
              </a:spcBef>
              <a:spcAft>
                <a:spcPts val="0"/>
              </a:spcAft>
              <a:buClr>
                <a:schemeClr val="dk2"/>
              </a:buClr>
              <a:buSzPts val="1300"/>
              <a:buFont typeface="Maven Pro ExtraBold"/>
              <a:buChar char="●"/>
            </a:pPr>
            <a:r>
              <a:rPr lang="en-GB" sz="1300">
                <a:solidFill>
                  <a:schemeClr val="dk2"/>
                </a:solidFill>
                <a:latin typeface="Maven Pro ExtraBold"/>
                <a:ea typeface="Maven Pro ExtraBold"/>
                <a:cs typeface="Maven Pro ExtraBold"/>
                <a:sym typeface="Maven Pro ExtraBold"/>
              </a:rPr>
              <a:t>This price spread gives us room to promote premium items more strongly.</a:t>
            </a:r>
            <a:endParaRPr sz="1300">
              <a:solidFill>
                <a:schemeClr val="dk2"/>
              </a:solidFill>
              <a:latin typeface="Maven Pro ExtraBold"/>
              <a:ea typeface="Maven Pro ExtraBold"/>
              <a:cs typeface="Maven Pro ExtraBold"/>
              <a:sym typeface="Maven Pro ExtraBold"/>
            </a:endParaRPr>
          </a:p>
          <a:p>
            <a:pPr indent="0" lvl="0" marL="457200" rtl="0" algn="l">
              <a:spcBef>
                <a:spcPts val="0"/>
              </a:spcBef>
              <a:spcAft>
                <a:spcPts val="0"/>
              </a:spcAft>
              <a:buNone/>
            </a:pPr>
            <a:r>
              <a:t/>
            </a:r>
            <a:endParaRPr sz="1300">
              <a:solidFill>
                <a:schemeClr val="dk2"/>
              </a:solidFill>
              <a:latin typeface="Maven Pro ExtraBold"/>
              <a:ea typeface="Maven Pro ExtraBold"/>
              <a:cs typeface="Maven Pro ExtraBold"/>
              <a:sym typeface="Maven Pro ExtraBold"/>
            </a:endParaRPr>
          </a:p>
          <a:p>
            <a:pPr indent="-311150" lvl="0" marL="457200" rtl="0" algn="l">
              <a:spcBef>
                <a:spcPts val="0"/>
              </a:spcBef>
              <a:spcAft>
                <a:spcPts val="0"/>
              </a:spcAft>
              <a:buClr>
                <a:schemeClr val="dk2"/>
              </a:buClr>
              <a:buSzPts val="1300"/>
              <a:buFont typeface="Maven Pro ExtraBold"/>
              <a:buChar char="●"/>
            </a:pPr>
            <a:r>
              <a:rPr lang="en-GB" sz="1300">
                <a:solidFill>
                  <a:schemeClr val="dk2"/>
                </a:solidFill>
                <a:latin typeface="Maven Pro ExtraBold"/>
                <a:ea typeface="Maven Pro ExtraBold"/>
                <a:cs typeface="Maven Pro ExtraBold"/>
                <a:sym typeface="Maven Pro ExtraBold"/>
              </a:rPr>
              <a:t>Lower-priced items may need adjustment if they’re undervalued.</a:t>
            </a:r>
            <a:endParaRPr sz="1300">
              <a:solidFill>
                <a:schemeClr val="dk2"/>
              </a:solidFill>
              <a:latin typeface="Maven Pro ExtraBold"/>
              <a:ea typeface="Maven Pro ExtraBold"/>
              <a:cs typeface="Maven Pro ExtraBold"/>
              <a:sym typeface="Maven Pro ExtraBold"/>
            </a:endParaRPr>
          </a:p>
          <a:p>
            <a:pPr indent="0" lvl="0" marL="457200" rtl="0" algn="l">
              <a:spcBef>
                <a:spcPts val="0"/>
              </a:spcBef>
              <a:spcAft>
                <a:spcPts val="0"/>
              </a:spcAft>
              <a:buNone/>
            </a:pPr>
            <a:r>
              <a:t/>
            </a:r>
            <a:endParaRPr sz="1300">
              <a:solidFill>
                <a:schemeClr val="dk2"/>
              </a:solidFill>
              <a:latin typeface="Maven Pro ExtraBold"/>
              <a:ea typeface="Maven Pro ExtraBold"/>
              <a:cs typeface="Maven Pro ExtraBold"/>
              <a:sym typeface="Maven Pro ExtraBold"/>
            </a:endParaRPr>
          </a:p>
          <a:p>
            <a:pPr indent="0" lvl="0" marL="0" rtl="0" algn="just">
              <a:spcBef>
                <a:spcPts val="0"/>
              </a:spcBef>
              <a:spcAft>
                <a:spcPts val="0"/>
              </a:spcAft>
              <a:buNone/>
            </a:pPr>
            <a:r>
              <a:t/>
            </a:r>
            <a:endParaRPr sz="1200">
              <a:solidFill>
                <a:srgbClr val="38761D"/>
              </a:solidFill>
              <a:latin typeface="Maven Pro ExtraBold"/>
              <a:ea typeface="Maven Pro ExtraBold"/>
              <a:cs typeface="Maven Pro ExtraBold"/>
              <a:sym typeface="Maven Pro ExtraBold"/>
            </a:endParaRPr>
          </a:p>
        </p:txBody>
      </p:sp>
      <p:pic>
        <p:nvPicPr>
          <p:cNvPr id="326" name="Google Shape;326;p18" title="Chart"/>
          <p:cNvPicPr preferRelativeResize="0"/>
          <p:nvPr/>
        </p:nvPicPr>
        <p:blipFill>
          <a:blip r:embed="rId3">
            <a:alphaModFix/>
          </a:blip>
          <a:stretch>
            <a:fillRect/>
          </a:stretch>
        </p:blipFill>
        <p:spPr>
          <a:xfrm>
            <a:off x="179075" y="201863"/>
            <a:ext cx="4652225" cy="3491030"/>
          </a:xfrm>
          <a:prstGeom prst="rect">
            <a:avLst/>
          </a:prstGeom>
          <a:noFill/>
          <a:ln>
            <a:noFill/>
          </a:ln>
        </p:spPr>
      </p:pic>
      <p:sp>
        <p:nvSpPr>
          <p:cNvPr id="327" name="Google Shape;327;p18"/>
          <p:cNvSpPr txBox="1"/>
          <p:nvPr/>
        </p:nvSpPr>
        <p:spPr>
          <a:xfrm>
            <a:off x="724900" y="3890625"/>
            <a:ext cx="7332900" cy="9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38761D"/>
                </a:solidFill>
                <a:latin typeface="Maven Pro"/>
                <a:ea typeface="Maven Pro"/>
                <a:cs typeface="Maven Pro"/>
                <a:sym typeface="Maven Pro"/>
              </a:rPr>
              <a:t>This mix shows that we have room to promote premium items more confidently and also rethink whether some of our lower-priced products are undervalued.</a:t>
            </a:r>
            <a:endParaRPr b="1" sz="1600">
              <a:solidFill>
                <a:srgbClr val="38761D"/>
              </a:solidFill>
              <a:latin typeface="Maven Pro"/>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9"/>
          <p:cNvSpPr txBox="1"/>
          <p:nvPr>
            <p:ph type="title"/>
          </p:nvPr>
        </p:nvSpPr>
        <p:spPr>
          <a:xfrm>
            <a:off x="161950" y="85275"/>
            <a:ext cx="6513000" cy="652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accent1"/>
                </a:solidFill>
              </a:rPr>
              <a:t>Product Consistency Throughout the Day</a:t>
            </a:r>
            <a:endParaRPr>
              <a:solidFill>
                <a:schemeClr val="accent1"/>
              </a:solidFill>
            </a:endParaRPr>
          </a:p>
        </p:txBody>
      </p:sp>
      <p:sp>
        <p:nvSpPr>
          <p:cNvPr id="333" name="Google Shape;333;p19"/>
          <p:cNvSpPr txBox="1"/>
          <p:nvPr>
            <p:ph idx="1" type="body"/>
          </p:nvPr>
        </p:nvSpPr>
        <p:spPr>
          <a:xfrm>
            <a:off x="232550" y="617750"/>
            <a:ext cx="8328000" cy="13977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rgbClr val="434343"/>
                </a:solidFill>
              </a:rPr>
              <a:t>The mix of products sold stays almost identical from 8:38 AM to 2:00 PM, showing that customers consistently buy the same items regardless of the time. This steady pattern suggests predictable demand, making it easier to plan production and maintain stock without needing time-based menu changes.</a:t>
            </a:r>
            <a:endParaRPr>
              <a:solidFill>
                <a:srgbClr val="434343"/>
              </a:solidFill>
            </a:endParaRPr>
          </a:p>
        </p:txBody>
      </p:sp>
      <p:pic>
        <p:nvPicPr>
          <p:cNvPr id="334" name="Google Shape;334;p19" title="Chart"/>
          <p:cNvPicPr preferRelativeResize="0"/>
          <p:nvPr/>
        </p:nvPicPr>
        <p:blipFill>
          <a:blip r:embed="rId3">
            <a:alphaModFix/>
          </a:blip>
          <a:stretch>
            <a:fillRect/>
          </a:stretch>
        </p:blipFill>
        <p:spPr>
          <a:xfrm>
            <a:off x="1765625" y="1401700"/>
            <a:ext cx="4857024" cy="36522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0"/>
          <p:cNvSpPr txBox="1"/>
          <p:nvPr>
            <p:ph type="title"/>
          </p:nvPr>
        </p:nvSpPr>
        <p:spPr>
          <a:xfrm>
            <a:off x="1248150" y="787125"/>
            <a:ext cx="7141800" cy="68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120">
                <a:solidFill>
                  <a:srgbClr val="274E13"/>
                </a:solidFill>
              </a:rPr>
              <a:t>How We Can Strengthen Our Marketing Campaign?</a:t>
            </a:r>
            <a:endParaRPr sz="2120">
              <a:solidFill>
                <a:srgbClr val="274E13"/>
              </a:solidFill>
            </a:endParaRPr>
          </a:p>
        </p:txBody>
      </p:sp>
      <p:sp>
        <p:nvSpPr>
          <p:cNvPr id="340" name="Google Shape;340;p20"/>
          <p:cNvSpPr txBox="1"/>
          <p:nvPr>
            <p:ph idx="1" type="body"/>
          </p:nvPr>
        </p:nvSpPr>
        <p:spPr>
          <a:xfrm>
            <a:off x="937150" y="1550075"/>
            <a:ext cx="7267200" cy="3063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Maven Pro SemiBold"/>
              <a:buChar char="●"/>
            </a:pPr>
            <a:r>
              <a:rPr lang="en-GB" sz="1500">
                <a:latin typeface="Maven Pro SemiBold"/>
                <a:ea typeface="Maven Pro SemiBold"/>
                <a:cs typeface="Maven Pro SemiBold"/>
                <a:sym typeface="Maven Pro SemiBold"/>
              </a:rPr>
              <a:t>Focus on promoting our best-selling items like Traditional Bread and croissants.</a:t>
            </a:r>
            <a:endParaRPr sz="1500">
              <a:latin typeface="Maven Pro SemiBold"/>
              <a:ea typeface="Maven Pro SemiBold"/>
              <a:cs typeface="Maven Pro SemiBold"/>
              <a:sym typeface="Maven Pro SemiBold"/>
            </a:endParaRPr>
          </a:p>
          <a:p>
            <a:pPr indent="-323850" lvl="0" marL="457200" rtl="0" algn="l">
              <a:spcBef>
                <a:spcPts val="0"/>
              </a:spcBef>
              <a:spcAft>
                <a:spcPts val="0"/>
              </a:spcAft>
              <a:buSzPts val="1500"/>
              <a:buFont typeface="Maven Pro SemiBold"/>
              <a:buChar char="●"/>
            </a:pPr>
            <a:r>
              <a:rPr lang="en-GB" sz="1500">
                <a:latin typeface="Maven Pro SemiBold"/>
                <a:ea typeface="Maven Pro SemiBold"/>
                <a:cs typeface="Maven Pro SemiBold"/>
                <a:sym typeface="Maven Pro SemiBold"/>
              </a:rPr>
              <a:t>Use the busy late-morning hours (10 AM–12 PM) for upsells and combo offers.</a:t>
            </a:r>
            <a:endParaRPr sz="1500">
              <a:latin typeface="Maven Pro SemiBold"/>
              <a:ea typeface="Maven Pro SemiBold"/>
              <a:cs typeface="Maven Pro SemiBold"/>
              <a:sym typeface="Maven Pro SemiBold"/>
            </a:endParaRPr>
          </a:p>
          <a:p>
            <a:pPr indent="-323850" lvl="0" marL="457200" rtl="0" algn="l">
              <a:spcBef>
                <a:spcPts val="0"/>
              </a:spcBef>
              <a:spcAft>
                <a:spcPts val="0"/>
              </a:spcAft>
              <a:buSzPts val="1500"/>
              <a:buFont typeface="Maven Pro SemiBold"/>
              <a:buChar char="●"/>
            </a:pPr>
            <a:r>
              <a:rPr lang="en-GB" sz="1500">
                <a:latin typeface="Maven Pro SemiBold"/>
                <a:ea typeface="Maven Pro SemiBold"/>
                <a:cs typeface="Maven Pro SemiBold"/>
                <a:sym typeface="Maven Pro SemiBold"/>
              </a:rPr>
              <a:t>Run tea-time discounts during slower hours (2 PM–4 PM) to bring in more customers.</a:t>
            </a:r>
            <a:endParaRPr sz="1500">
              <a:latin typeface="Maven Pro SemiBold"/>
              <a:ea typeface="Maven Pro SemiBold"/>
              <a:cs typeface="Maven Pro SemiBold"/>
              <a:sym typeface="Maven Pro SemiBold"/>
            </a:endParaRPr>
          </a:p>
          <a:p>
            <a:pPr indent="-323850" lvl="0" marL="457200" rtl="0" algn="l">
              <a:spcBef>
                <a:spcPts val="0"/>
              </a:spcBef>
              <a:spcAft>
                <a:spcPts val="0"/>
              </a:spcAft>
              <a:buSzPts val="1500"/>
              <a:buFont typeface="Maven Pro SemiBold"/>
              <a:buChar char="●"/>
            </a:pPr>
            <a:r>
              <a:rPr lang="en-GB" sz="1500">
                <a:latin typeface="Maven Pro SemiBold"/>
                <a:ea typeface="Maven Pro SemiBold"/>
                <a:cs typeface="Maven Pro SemiBold"/>
                <a:sym typeface="Maven Pro SemiBold"/>
              </a:rPr>
              <a:t>Simplify the menu by reducing low-performing items and highlight top sellers more clearly.</a:t>
            </a:r>
            <a:endParaRPr sz="1500">
              <a:latin typeface="Maven Pro SemiBold"/>
              <a:ea typeface="Maven Pro SemiBold"/>
              <a:cs typeface="Maven Pro SemiBold"/>
              <a:sym typeface="Maven Pro SemiBold"/>
            </a:endParaRPr>
          </a:p>
          <a:p>
            <a:pPr indent="-323850" lvl="0" marL="457200" rtl="0" algn="l">
              <a:spcBef>
                <a:spcPts val="0"/>
              </a:spcBef>
              <a:spcAft>
                <a:spcPts val="0"/>
              </a:spcAft>
              <a:buSzPts val="1500"/>
              <a:buFont typeface="Maven Pro SemiBold"/>
              <a:buChar char="●"/>
            </a:pPr>
            <a:r>
              <a:rPr lang="en-GB" sz="1500">
                <a:latin typeface="Maven Pro SemiBold"/>
                <a:ea typeface="Maven Pro SemiBold"/>
                <a:cs typeface="Maven Pro SemiBold"/>
                <a:sym typeface="Maven Pro SemiBold"/>
              </a:rPr>
              <a:t>Share fresh-bake visuals and customer favorites on social media to boost visibility and engagement.</a:t>
            </a:r>
            <a:endParaRPr sz="1500">
              <a:latin typeface="Maven Pro SemiBold"/>
              <a:ea typeface="Maven Pro SemiBold"/>
              <a:cs typeface="Maven Pro SemiBold"/>
              <a:sym typeface="Maven Pro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1"/>
          <p:cNvSpPr txBox="1"/>
          <p:nvPr>
            <p:ph type="title"/>
          </p:nvPr>
        </p:nvSpPr>
        <p:spPr>
          <a:xfrm>
            <a:off x="1303800" y="766175"/>
            <a:ext cx="5203500" cy="6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A86E8"/>
                </a:solidFill>
              </a:rPr>
              <a:t>Recommendations</a:t>
            </a:r>
            <a:endParaRPr>
              <a:solidFill>
                <a:srgbClr val="4A86E8"/>
              </a:solidFill>
            </a:endParaRPr>
          </a:p>
        </p:txBody>
      </p:sp>
      <p:sp>
        <p:nvSpPr>
          <p:cNvPr id="346" name="Google Shape;346;p21"/>
          <p:cNvSpPr txBox="1"/>
          <p:nvPr>
            <p:ph idx="1" type="body"/>
          </p:nvPr>
        </p:nvSpPr>
        <p:spPr>
          <a:xfrm>
            <a:off x="1049650" y="1407875"/>
            <a:ext cx="7253100" cy="33207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Clr>
                <a:srgbClr val="000000"/>
              </a:buClr>
              <a:buSzPts val="1400"/>
              <a:buFont typeface="Arial"/>
              <a:buChar char="●"/>
            </a:pPr>
            <a:r>
              <a:rPr lang="en-GB" sz="1400">
                <a:solidFill>
                  <a:srgbClr val="000000"/>
                </a:solidFill>
                <a:latin typeface="Maven Pro SemiBold"/>
                <a:ea typeface="Maven Pro SemiBold"/>
                <a:cs typeface="Maven Pro SemiBold"/>
                <a:sym typeface="Maven Pro SemiBold"/>
              </a:rPr>
              <a:t>Strengthen focus on best-selling items like Traditional Bread, croissants, baguettes, and banettes by featuring them in promotions, bundles, and in-store displays.</a:t>
            </a:r>
            <a:br>
              <a:rPr lang="en-GB" sz="1400">
                <a:solidFill>
                  <a:srgbClr val="000000"/>
                </a:solidFill>
                <a:latin typeface="Maven Pro SemiBold"/>
                <a:ea typeface="Maven Pro SemiBold"/>
                <a:cs typeface="Maven Pro SemiBold"/>
                <a:sym typeface="Maven Pro SemiBold"/>
              </a:rPr>
            </a:br>
            <a:endParaRPr sz="1400">
              <a:solidFill>
                <a:srgbClr val="000000"/>
              </a:solidFill>
              <a:latin typeface="Maven Pro SemiBold"/>
              <a:ea typeface="Maven Pro SemiBold"/>
              <a:cs typeface="Maven Pro SemiBold"/>
              <a:sym typeface="Maven Pro SemiBold"/>
            </a:endParaRPr>
          </a:p>
          <a:p>
            <a:pPr indent="-317500" lvl="0" marL="457200" rtl="0" algn="l">
              <a:lnSpc>
                <a:spcPct val="95000"/>
              </a:lnSpc>
              <a:spcBef>
                <a:spcPts val="0"/>
              </a:spcBef>
              <a:spcAft>
                <a:spcPts val="0"/>
              </a:spcAft>
              <a:buClr>
                <a:srgbClr val="000000"/>
              </a:buClr>
              <a:buSzPts val="1400"/>
              <a:buFont typeface="Arial"/>
              <a:buChar char="●"/>
            </a:pPr>
            <a:r>
              <a:rPr lang="en-GB" sz="1400">
                <a:solidFill>
                  <a:srgbClr val="000000"/>
                </a:solidFill>
                <a:latin typeface="Maven Pro SemiBold"/>
                <a:ea typeface="Maven Pro SemiBold"/>
                <a:cs typeface="Maven Pro SemiBold"/>
                <a:sym typeface="Maven Pro SemiBold"/>
              </a:rPr>
              <a:t>Use peak late-morning hours (10 AM–12 PM) for premium upsells, combo deals, and showcasing freshly baked items.</a:t>
            </a:r>
            <a:br>
              <a:rPr lang="en-GB" sz="1400">
                <a:solidFill>
                  <a:srgbClr val="000000"/>
                </a:solidFill>
                <a:latin typeface="Maven Pro SemiBold"/>
                <a:ea typeface="Maven Pro SemiBold"/>
                <a:cs typeface="Maven Pro SemiBold"/>
                <a:sym typeface="Maven Pro SemiBold"/>
              </a:rPr>
            </a:br>
            <a:endParaRPr sz="1400">
              <a:solidFill>
                <a:srgbClr val="000000"/>
              </a:solidFill>
              <a:latin typeface="Maven Pro SemiBold"/>
              <a:ea typeface="Maven Pro SemiBold"/>
              <a:cs typeface="Maven Pro SemiBold"/>
              <a:sym typeface="Maven Pro SemiBold"/>
            </a:endParaRPr>
          </a:p>
          <a:p>
            <a:pPr indent="-317500" lvl="0" marL="457200" rtl="0" algn="l">
              <a:lnSpc>
                <a:spcPct val="95000"/>
              </a:lnSpc>
              <a:spcBef>
                <a:spcPts val="0"/>
              </a:spcBef>
              <a:spcAft>
                <a:spcPts val="0"/>
              </a:spcAft>
              <a:buClr>
                <a:srgbClr val="000000"/>
              </a:buClr>
              <a:buSzPts val="1400"/>
              <a:buFont typeface="Arial"/>
              <a:buChar char="●"/>
            </a:pPr>
            <a:r>
              <a:rPr lang="en-GB" sz="1400">
                <a:solidFill>
                  <a:srgbClr val="000000"/>
                </a:solidFill>
                <a:latin typeface="Maven Pro SemiBold"/>
                <a:ea typeface="Maven Pro SemiBold"/>
                <a:cs typeface="Maven Pro SemiBold"/>
                <a:sym typeface="Maven Pro SemiBold"/>
              </a:rPr>
              <a:t>Boost afternoon sales with tea-time discounts between 2 PM–4 PM to reduce slow-period dips and increase customer flow.</a:t>
            </a:r>
            <a:br>
              <a:rPr lang="en-GB" sz="1400">
                <a:solidFill>
                  <a:srgbClr val="000000"/>
                </a:solidFill>
                <a:latin typeface="Maven Pro SemiBold"/>
                <a:ea typeface="Maven Pro SemiBold"/>
                <a:cs typeface="Maven Pro SemiBold"/>
                <a:sym typeface="Maven Pro SemiBold"/>
              </a:rPr>
            </a:br>
            <a:endParaRPr sz="1400">
              <a:solidFill>
                <a:srgbClr val="000000"/>
              </a:solidFill>
              <a:latin typeface="Maven Pro SemiBold"/>
              <a:ea typeface="Maven Pro SemiBold"/>
              <a:cs typeface="Maven Pro SemiBold"/>
              <a:sym typeface="Maven Pro SemiBold"/>
            </a:endParaRPr>
          </a:p>
          <a:p>
            <a:pPr indent="-317500" lvl="0" marL="457200" rtl="0" algn="l">
              <a:lnSpc>
                <a:spcPct val="95000"/>
              </a:lnSpc>
              <a:spcBef>
                <a:spcPts val="0"/>
              </a:spcBef>
              <a:spcAft>
                <a:spcPts val="0"/>
              </a:spcAft>
              <a:buClr>
                <a:srgbClr val="000000"/>
              </a:buClr>
              <a:buSzPts val="1400"/>
              <a:buFont typeface="Arial"/>
              <a:buChar char="●"/>
            </a:pPr>
            <a:r>
              <a:rPr lang="en-GB" sz="1400">
                <a:solidFill>
                  <a:srgbClr val="000000"/>
                </a:solidFill>
                <a:latin typeface="Maven Pro SemiBold"/>
                <a:ea typeface="Maven Pro SemiBold"/>
                <a:cs typeface="Maven Pro SemiBold"/>
                <a:sym typeface="Maven Pro SemiBold"/>
              </a:rPr>
              <a:t>Optimize pricing strategy by promoting premium products more confidently and reviewing low-priced items that may be undervalued.</a:t>
            </a:r>
            <a:br>
              <a:rPr lang="en-GB" sz="1400">
                <a:solidFill>
                  <a:srgbClr val="000000"/>
                </a:solidFill>
                <a:latin typeface="Maven Pro SemiBold"/>
                <a:ea typeface="Maven Pro SemiBold"/>
                <a:cs typeface="Maven Pro SemiBold"/>
                <a:sym typeface="Maven Pro SemiBold"/>
              </a:rPr>
            </a:br>
            <a:endParaRPr sz="1400">
              <a:solidFill>
                <a:srgbClr val="000000"/>
              </a:solidFill>
              <a:latin typeface="Maven Pro SemiBold"/>
              <a:ea typeface="Maven Pro SemiBold"/>
              <a:cs typeface="Maven Pro SemiBold"/>
              <a:sym typeface="Maven Pro SemiBold"/>
            </a:endParaRPr>
          </a:p>
          <a:p>
            <a:pPr indent="-317500" lvl="0" marL="457200" rtl="0" algn="l">
              <a:lnSpc>
                <a:spcPct val="95000"/>
              </a:lnSpc>
              <a:spcBef>
                <a:spcPts val="0"/>
              </a:spcBef>
              <a:spcAft>
                <a:spcPts val="0"/>
              </a:spcAft>
              <a:buClr>
                <a:srgbClr val="000000"/>
              </a:buClr>
              <a:buSzPts val="1400"/>
              <a:buFont typeface="Arial"/>
              <a:buChar char="●"/>
            </a:pPr>
            <a:r>
              <a:rPr lang="en-GB" sz="1400">
                <a:solidFill>
                  <a:srgbClr val="000000"/>
                </a:solidFill>
                <a:latin typeface="Maven Pro SemiBold"/>
                <a:ea typeface="Maven Pro SemiBold"/>
                <a:cs typeface="Maven Pro SemiBold"/>
                <a:sym typeface="Maven Pro SemiBold"/>
              </a:rPr>
              <a:t>Simplify the menu by reducing low-performing items to cut waste, improve production efficiency, and highlight crowd favorites.</a:t>
            </a:r>
            <a:endParaRPr sz="1400">
              <a:solidFill>
                <a:srgbClr val="000000"/>
              </a:solidFill>
              <a:latin typeface="Maven Pro SemiBold"/>
              <a:ea typeface="Maven Pro SemiBold"/>
              <a:cs typeface="Maven Pro SemiBold"/>
              <a:sym typeface="Maven Pro SemiBold"/>
            </a:endParaRPr>
          </a:p>
          <a:p>
            <a:pPr indent="0" lvl="0" marL="457200" rtl="0" algn="l">
              <a:lnSpc>
                <a:spcPct val="95000"/>
              </a:lnSpc>
              <a:spcBef>
                <a:spcPts val="1200"/>
              </a:spcBef>
              <a:spcAft>
                <a:spcPts val="1200"/>
              </a:spcAft>
              <a:buNone/>
            </a:pPr>
            <a:r>
              <a:t/>
            </a:r>
            <a:endParaRPr>
              <a:latin typeface="Maven Pro SemiBold"/>
              <a:ea typeface="Maven Pro SemiBold"/>
              <a:cs typeface="Maven Pro SemiBold"/>
              <a:sym typeface="Maven Pro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93C47D"/>
                </a:solidFill>
              </a:rPr>
              <a:t>Future Development Plans</a:t>
            </a:r>
            <a:endParaRPr>
              <a:solidFill>
                <a:srgbClr val="93C47D"/>
              </a:solidFill>
            </a:endParaRPr>
          </a:p>
        </p:txBody>
      </p:sp>
      <p:sp>
        <p:nvSpPr>
          <p:cNvPr id="352" name="Google Shape;352;p22"/>
          <p:cNvSpPr txBox="1"/>
          <p:nvPr>
            <p:ph idx="1" type="body"/>
          </p:nvPr>
        </p:nvSpPr>
        <p:spPr>
          <a:xfrm>
            <a:off x="1303800" y="1345075"/>
            <a:ext cx="7030500" cy="3477900"/>
          </a:xfrm>
          <a:prstGeom prst="rect">
            <a:avLst/>
          </a:prstGeom>
        </p:spPr>
        <p:txBody>
          <a:bodyPr anchorCtr="0" anchor="t" bIns="91425" lIns="91425" spcFirstLastPara="1" rIns="91425" wrap="square" tIns="91425">
            <a:normAutofit fontScale="25000" lnSpcReduction="20000"/>
          </a:bodyPr>
          <a:lstStyle/>
          <a:p>
            <a:pPr indent="-319707" lvl="0" marL="457200" rtl="0" algn="l">
              <a:spcBef>
                <a:spcPts val="0"/>
              </a:spcBef>
              <a:spcAft>
                <a:spcPts val="0"/>
              </a:spcAft>
              <a:buClr>
                <a:srgbClr val="000000"/>
              </a:buClr>
              <a:buSzPct val="100000"/>
              <a:buFont typeface="Arial"/>
              <a:buChar char="●"/>
            </a:pPr>
            <a:r>
              <a:rPr lang="en-GB" sz="5739">
                <a:solidFill>
                  <a:srgbClr val="000000"/>
                </a:solidFill>
                <a:latin typeface="Maven Pro SemiBold"/>
                <a:ea typeface="Maven Pro SemiBold"/>
                <a:cs typeface="Maven Pro SemiBold"/>
                <a:sym typeface="Maven Pro SemiBold"/>
              </a:rPr>
              <a:t>Introduce a loyalty rewards program (stamp card or digital app) to increase repeat purchases and customer retention.</a:t>
            </a:r>
            <a:br>
              <a:rPr lang="en-GB" sz="5739">
                <a:solidFill>
                  <a:srgbClr val="000000"/>
                </a:solidFill>
                <a:latin typeface="Maven Pro SemiBold"/>
                <a:ea typeface="Maven Pro SemiBold"/>
                <a:cs typeface="Maven Pro SemiBold"/>
                <a:sym typeface="Maven Pro SemiBold"/>
              </a:rPr>
            </a:br>
            <a:endParaRPr sz="5739">
              <a:solidFill>
                <a:srgbClr val="000000"/>
              </a:solidFill>
              <a:latin typeface="Maven Pro SemiBold"/>
              <a:ea typeface="Maven Pro SemiBold"/>
              <a:cs typeface="Maven Pro SemiBold"/>
              <a:sym typeface="Maven Pro SemiBold"/>
            </a:endParaRPr>
          </a:p>
          <a:p>
            <a:pPr indent="-319707" lvl="0" marL="457200" rtl="0" algn="l">
              <a:spcBef>
                <a:spcPts val="0"/>
              </a:spcBef>
              <a:spcAft>
                <a:spcPts val="0"/>
              </a:spcAft>
              <a:buClr>
                <a:srgbClr val="000000"/>
              </a:buClr>
              <a:buSzPct val="100000"/>
              <a:buFont typeface="Arial"/>
              <a:buChar char="●"/>
            </a:pPr>
            <a:r>
              <a:rPr lang="en-GB" sz="5739">
                <a:solidFill>
                  <a:srgbClr val="000000"/>
                </a:solidFill>
                <a:latin typeface="Maven Pro SemiBold"/>
                <a:ea typeface="Maven Pro SemiBold"/>
                <a:cs typeface="Maven Pro SemiBold"/>
                <a:sym typeface="Maven Pro SemiBold"/>
              </a:rPr>
              <a:t>Launch a seasonal or limited-edition product line (festival pastries, specialty breads) to create excitement and attract new customers.</a:t>
            </a:r>
            <a:br>
              <a:rPr lang="en-GB" sz="5739">
                <a:solidFill>
                  <a:srgbClr val="000000"/>
                </a:solidFill>
                <a:latin typeface="Maven Pro SemiBold"/>
                <a:ea typeface="Maven Pro SemiBold"/>
                <a:cs typeface="Maven Pro SemiBold"/>
                <a:sym typeface="Maven Pro SemiBold"/>
              </a:rPr>
            </a:br>
            <a:endParaRPr sz="5739">
              <a:solidFill>
                <a:srgbClr val="000000"/>
              </a:solidFill>
              <a:latin typeface="Maven Pro SemiBold"/>
              <a:ea typeface="Maven Pro SemiBold"/>
              <a:cs typeface="Maven Pro SemiBold"/>
              <a:sym typeface="Maven Pro SemiBold"/>
            </a:endParaRPr>
          </a:p>
          <a:p>
            <a:pPr indent="-319707" lvl="0" marL="457200" rtl="0" algn="l">
              <a:spcBef>
                <a:spcPts val="0"/>
              </a:spcBef>
              <a:spcAft>
                <a:spcPts val="0"/>
              </a:spcAft>
              <a:buClr>
                <a:srgbClr val="000000"/>
              </a:buClr>
              <a:buSzPct val="100000"/>
              <a:buFont typeface="Arial"/>
              <a:buChar char="●"/>
            </a:pPr>
            <a:r>
              <a:rPr lang="en-GB" sz="5739">
                <a:solidFill>
                  <a:srgbClr val="000000"/>
                </a:solidFill>
                <a:latin typeface="Maven Pro SemiBold"/>
                <a:ea typeface="Maven Pro SemiBold"/>
                <a:cs typeface="Maven Pro SemiBold"/>
                <a:sym typeface="Maven Pro SemiBold"/>
              </a:rPr>
              <a:t>Expand digital marketing through Instagram, WhatsApp updates, and Google Maps posts featuring fresh batches and daily specials.</a:t>
            </a:r>
            <a:br>
              <a:rPr lang="en-GB" sz="5739">
                <a:solidFill>
                  <a:srgbClr val="000000"/>
                </a:solidFill>
                <a:latin typeface="Maven Pro SemiBold"/>
                <a:ea typeface="Maven Pro SemiBold"/>
                <a:cs typeface="Maven Pro SemiBold"/>
                <a:sym typeface="Maven Pro SemiBold"/>
              </a:rPr>
            </a:br>
            <a:endParaRPr sz="5739">
              <a:solidFill>
                <a:srgbClr val="000000"/>
              </a:solidFill>
              <a:latin typeface="Maven Pro SemiBold"/>
              <a:ea typeface="Maven Pro SemiBold"/>
              <a:cs typeface="Maven Pro SemiBold"/>
              <a:sym typeface="Maven Pro SemiBold"/>
            </a:endParaRPr>
          </a:p>
          <a:p>
            <a:pPr indent="-319707" lvl="0" marL="457200" rtl="0" algn="l">
              <a:spcBef>
                <a:spcPts val="0"/>
              </a:spcBef>
              <a:spcAft>
                <a:spcPts val="0"/>
              </a:spcAft>
              <a:buClr>
                <a:srgbClr val="000000"/>
              </a:buClr>
              <a:buSzPct val="100000"/>
              <a:buFont typeface="Arial"/>
              <a:buChar char="●"/>
            </a:pPr>
            <a:r>
              <a:rPr lang="en-GB" sz="5739">
                <a:solidFill>
                  <a:srgbClr val="000000"/>
                </a:solidFill>
                <a:latin typeface="Maven Pro SemiBold"/>
                <a:ea typeface="Maven Pro SemiBold"/>
                <a:cs typeface="Maven Pro SemiBold"/>
                <a:sym typeface="Maven Pro SemiBold"/>
              </a:rPr>
              <a:t>Add pre-order and pickup features to handle high traffic during peak hours and improve customer convenience.</a:t>
            </a:r>
            <a:br>
              <a:rPr lang="en-GB" sz="5739">
                <a:solidFill>
                  <a:srgbClr val="000000"/>
                </a:solidFill>
                <a:latin typeface="Maven Pro SemiBold"/>
                <a:ea typeface="Maven Pro SemiBold"/>
                <a:cs typeface="Maven Pro SemiBold"/>
                <a:sym typeface="Maven Pro SemiBold"/>
              </a:rPr>
            </a:br>
            <a:endParaRPr sz="5739">
              <a:solidFill>
                <a:srgbClr val="000000"/>
              </a:solidFill>
              <a:latin typeface="Maven Pro SemiBold"/>
              <a:ea typeface="Maven Pro SemiBold"/>
              <a:cs typeface="Maven Pro SemiBold"/>
              <a:sym typeface="Maven Pro SemiBold"/>
            </a:endParaRPr>
          </a:p>
          <a:p>
            <a:pPr indent="-319707" lvl="0" marL="457200" rtl="0" algn="l">
              <a:spcBef>
                <a:spcPts val="0"/>
              </a:spcBef>
              <a:spcAft>
                <a:spcPts val="0"/>
              </a:spcAft>
              <a:buClr>
                <a:srgbClr val="000000"/>
              </a:buClr>
              <a:buSzPct val="100000"/>
              <a:buFont typeface="Arial"/>
              <a:buChar char="●"/>
            </a:pPr>
            <a:r>
              <a:rPr lang="en-GB" sz="5739">
                <a:solidFill>
                  <a:srgbClr val="000000"/>
                </a:solidFill>
                <a:latin typeface="Maven Pro SemiBold"/>
                <a:ea typeface="Maven Pro SemiBold"/>
                <a:cs typeface="Maven Pro SemiBold"/>
                <a:sym typeface="Maven Pro SemiBold"/>
              </a:rPr>
              <a:t>Analyze customer behavior more deeply by tracking monthly trends, category performance, and upsell success rates to refine the strategy further.</a:t>
            </a:r>
            <a:endParaRPr sz="5739">
              <a:solidFill>
                <a:srgbClr val="000000"/>
              </a:solidFill>
              <a:latin typeface="Maven Pro SemiBold"/>
              <a:ea typeface="Maven Pro SemiBold"/>
              <a:cs typeface="Maven Pro SemiBold"/>
              <a:sym typeface="Maven Pro SemiBold"/>
            </a:endParaRPr>
          </a:p>
          <a:p>
            <a:pPr indent="0" lvl="0" marL="4572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